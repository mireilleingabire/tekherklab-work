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Cross-Validation Accuracy</c:v>
                </c:pt>
              </c:strCache>
            </c:strRef>
          </c:tx>
          <c:spPr>
            <a:solidFill>
              <a:srgbClr val="4B3F7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E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K-Nearest
Neighbors</c:v>
                  </c:pt>
                  <c:pt idx="3">
                    <c:v>Extra
Trees</c:v>
                  </c:pt>
                  <c:pt idx="4">
                    <c:v>CatBoost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0.7959</c:v>
                </c:pt>
                <c:pt idx="1">
                  <c:v>0.7977</c:v>
                </c:pt>
                <c:pt idx="2">
                  <c:v>0.7865</c:v>
                </c:pt>
                <c:pt idx="3">
                  <c:v>0.809</c:v>
                </c:pt>
                <c:pt idx="4">
                  <c:v>0.8133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1E1E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1E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3"/>
          <c:min val="0.75"/>
        </c:scaling>
        <c:delete val="0"/>
        <c:axPos val="l"/>
        <c:majorGridlines>
          <c:spPr>
            <a:ln w="12700" cap="flat">
              <a:solidFill>
                <a:srgbClr val="DDDC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6E8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6E85"/>
                    </a:solidFill>
                    <a:latin typeface="Arial"/>
                  </a:rPr>
                  <a:t>Cross-Validation Accuracy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Cross-Validation Accuracy</c:v>
                </c:pt>
              </c:strCache>
            </c:strRef>
          </c:tx>
          <c:spPr>
            <a:solidFill>
              <a:srgbClr val="FFC857">
                <a:alpha val="100000"/>
              </a:srgbClr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1E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B3F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B3F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B3F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B3F7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B3F7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B3F7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Weighted Voting
+ LightGBM</c:v>
                  </c:pt>
                  <c:pt idx="1">
                    <c:v>CatBoost</c:v>
                  </c:pt>
                  <c:pt idx="2">
                    <c:v>Stacking
Ensemble</c:v>
                  </c:pt>
                  <c:pt idx="3">
                    <c:v>Extra Trees</c:v>
                  </c:pt>
                  <c:pt idx="4">
                    <c:v>Decision Tree</c:v>
                  </c:pt>
                  <c:pt idx="5">
                    <c:v>Logistic
Regression</c:v>
                  </c:pt>
                  <c:pt idx="6">
                    <c:v>K-Nearest
Neighbors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0.8155</c:v>
                </c:pt>
                <c:pt idx="1">
                  <c:v>0.8133</c:v>
                </c:pt>
                <c:pt idx="2">
                  <c:v>0.8132</c:v>
                </c:pt>
                <c:pt idx="3">
                  <c:v>0.809</c:v>
                </c:pt>
                <c:pt idx="4">
                  <c:v>0.7977</c:v>
                </c:pt>
                <c:pt idx="5">
                  <c:v>0.7959</c:v>
                </c:pt>
                <c:pt idx="6">
                  <c:v>0.7865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50" u="none">
                  <a:solidFill>
                    <a:srgbClr val="1E1E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1E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3"/>
          <c:min val="0.75"/>
        </c:scaling>
        <c:delete val="0"/>
        <c:axPos val="b"/>
        <c:majorGridlines>
          <c:spPr>
            <a:ln w="12700" cap="flat">
              <a:solidFill>
                <a:srgbClr val="DDDC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E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1E2E"/>
                </a:solidFill>
                <a:latin typeface="Arial"/>
              </a:rPr>
              <a:t>Predicted Passenger Outcomes (n = 4,277)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Prediction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C857"/>
              </a:solidFill>
              <a:effectLst/>
            </c:spPr>
          </c:dPt>
          <c:dPt>
            <c:idx val="1"/>
            <c:bubble3D val="0"/>
            <c:spPr>
              <a:solidFill>
                <a:srgbClr val="4B3F7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Transported (51.9%)</c:v>
                </c:pt>
                <c:pt idx="1">
                  <c:v>Not Transported (48.1%)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2221</c:v>
                </c:pt>
                <c:pt idx="1">
                  <c:v>2056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1E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73736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822960"/>
            <a:ext cx="45720" cy="457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210312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54864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164592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0" y="2377440"/>
            <a:ext cx="45720" cy="457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0" y="448056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01168"/>
            <a:ext cx="45720" cy="457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603504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24160" y="566928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95760" y="493776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10896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0" y="2926080"/>
            <a:ext cx="45720" cy="457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6" name="Shape 14"/>
          <p:cNvSpPr/>
          <p:nvPr/>
        </p:nvSpPr>
        <p:spPr>
          <a:xfrm>
            <a:off x="8778240" y="914400"/>
            <a:ext cx="4206240" cy="4206240"/>
          </a:xfrm>
          <a:prstGeom prst="ellipse">
            <a:avLst/>
          </a:prstGeom>
          <a:solidFill>
            <a:srgbClr val="4B3F72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0" y="1645920"/>
            <a:ext cx="2743200" cy="2743200"/>
          </a:xfrm>
          <a:prstGeom prst="ellipse">
            <a:avLst/>
          </a:prstGeom>
          <a:solidFill>
            <a:srgbClr val="FFC857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1965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COMPETITION REPORT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3317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Spaceship Titanic: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22960" y="32004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C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Dimensional Transport with Ensemble Learning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348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Mireille Ingabire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11, 2026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Platform: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Spaceship Titanic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" y="5806440"/>
            <a:ext cx="3931920" cy="621792"/>
          </a:xfrm>
          <a:prstGeom prst="roundRect">
            <a:avLst>
              <a:gd name="adj" fmla="val 14706"/>
            </a:avLst>
          </a:prstGeom>
          <a:solidFill>
            <a:srgbClr val="4B3F72">
              <a:alpha val="80000"/>
            </a:srgbClr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80644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Leaderboard Accuracy:  80.944%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Spaceship Titanic competition poses a binary classification problem: predict whether each passenger aboard a spacecraft was transported to an alternate dimension following a collision with a spacetime anomaly. This project combines structured feature engineering, five independently trained base models, and two ensemble strategies — stacking and weighted voting — to maximize both cross-validated accuracy and leaderboard performance.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6675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→ five base models → ensemble comparison → final soft-voting model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accuracy, validated using stratified five-fold cross-validation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35240" y="1554480"/>
            <a:ext cx="3977640" cy="4343400"/>
          </a:xfrm>
          <a:prstGeom prst="roundRect">
            <a:avLst>
              <a:gd name="adj" fmla="val 2759"/>
            </a:avLst>
          </a:prstGeom>
          <a:solidFill>
            <a:srgbClr val="12122B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0" y="18288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TARGET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09560" y="21031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80.0%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909560" y="2971800"/>
            <a:ext cx="3429000" cy="0"/>
          </a:xfrm>
          <a:prstGeom prst="line">
            <a:avLst/>
          </a:prstGeom>
          <a:noFill/>
          <a:ln w="19050">
            <a:solidFill>
              <a:srgbClr val="4B3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32004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RESULT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09560" y="34747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80.944%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909560" y="42519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accuracy — exceeding target by 0.944 percentage points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09560" y="5029200"/>
            <a:ext cx="3429000" cy="0"/>
          </a:xfrm>
          <a:prstGeom prst="line">
            <a:avLst/>
          </a:prstGeom>
          <a:noFill/>
          <a:ln w="19050">
            <a:solidFill>
              <a:srgbClr val="4B3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51663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09560" y="54406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81.55%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DEB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3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8,693 × 14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487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DEBF7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8288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3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4,277 × 13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2487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DEBF7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8288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3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8,693 × 24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2487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 Matrix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feature engineering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78240" y="16916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EDEBF7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18288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3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15400" y="2487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1540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for reproducibility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11109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DEB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Characteristics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224528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balance: 50.36% — classes are nearly evenly split, so accuracy is a fair evaluation metric.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approximately 2% of entries in every column except Passenger Identifier and Transported.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Cabin column: encoded as deck / cabin number / side, and unpacked into separate features.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Passenger Identifier: encoded as group / position within group, and unpacked into separate features.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Numeric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engineered features were derived from the raw data; the thirteen numeric features below combine with six categorical features to form the final twenty-four-feature matrix.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13432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age (original field)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875788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BEHAVIOR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59836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131820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five service spending columns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474720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 Spending: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Logarithmic transform to correct skew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45636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817620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Zero-Spending Indicator: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passengers with no recorded spending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88536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160520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Usage Count: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distinct services used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31436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503420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Spending: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Spa, VR Deck, and Room Service spending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74336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846320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Low-End Spending: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Food Court and Shopping Mall spending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317236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189220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Spending Ratio: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spending on premium services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72200" y="205740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STRUCTURE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2441448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2313432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Length: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passengers traveling together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2784348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368" y="2656332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Traveler Indicator: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passengers traveling alone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3127248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9" name="Text 27"/>
          <p:cNvSpPr/>
          <p:nvPr/>
        </p:nvSpPr>
        <p:spPr>
          <a:xfrm>
            <a:off x="6373368" y="2999232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Position: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within the travel group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3470148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3342132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Room Number: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room extracted from the cabin code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72200" y="3904488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4288536"/>
            <a:ext cx="82296" cy="8229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4" name="Text 32"/>
          <p:cNvSpPr/>
          <p:nvPr/>
        </p:nvSpPr>
        <p:spPr>
          <a:xfrm>
            <a:off x="6373368" y="4160520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Cryogenic Sleep × Zero Spending: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passengers asleep with no spending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Features &amp; Preprocessing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4B3F7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Planet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192024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4B3F72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920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Cryogenic Sleep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4B3F72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920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4B3F7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06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Status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23160" y="260604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4B3F72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2606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Zone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260604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4B3F72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2606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Pier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preprocessing runs inside a single scikit-learn Pipeline object, preventing information leakage during cross-validation.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0" y="1508760"/>
            <a:ext cx="5623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1920240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DEB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02996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242316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EDEBF7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4231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Imputation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(fill missing values)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41080" y="242316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098280" y="242316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EDEBF7"/>
          </a:solidFill>
          <a:ln/>
        </p:spPr>
      </p:sp>
      <p:sp>
        <p:nvSpPr>
          <p:cNvPr id="25" name="Text 23"/>
          <p:cNvSpPr/>
          <p:nvPr/>
        </p:nvSpPr>
        <p:spPr>
          <a:xfrm>
            <a:off x="9189720" y="24231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Scaling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(normalize range)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520440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DEB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63016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3640" y="402336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EDEBF7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4023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Most-Frequent Imputation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(fill missing values)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41080" y="402336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098280" y="402336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EDEBF7"/>
          </a:solidFill>
          <a:ln/>
        </p:spPr>
      </p:sp>
      <p:sp>
        <p:nvSpPr>
          <p:cNvPr id="32" name="Text 30"/>
          <p:cNvSpPr/>
          <p:nvPr/>
        </p:nvSpPr>
        <p:spPr>
          <a:xfrm>
            <a:off x="9189720" y="40233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(unknown categories ignored)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5074920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transformed sets are combined by a Column Transformer before reaching the models.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Models Tested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classification algorithms were trained and evaluated using stratified five-fold cross-validation before any ensembling was applied.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965960"/>
            <a:ext cx="3794760" cy="4114800"/>
          </a:xfrm>
          <a:prstGeom prst="roundRect">
            <a:avLst>
              <a:gd name="adj" fmla="val 2892"/>
            </a:avLst>
          </a:prstGeom>
          <a:solidFill>
            <a:srgbClr val="12122B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2560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09244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Decision Trees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92440" y="3566160"/>
            <a:ext cx="3246120" cy="0"/>
          </a:xfrm>
          <a:prstGeom prst="line">
            <a:avLst/>
          </a:prstGeom>
          <a:noFill/>
          <a:ln w="19050">
            <a:solidFill>
              <a:srgbClr val="4B3F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0.8133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092440" y="4343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accuracy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92440" y="48463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 400 boosting iterations, learning rate 0.06, tree depth 5.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Methods Compared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DEB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476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Ensemble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40487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base models feed a Logistic Regression meta-model, which learns how to combine their outputs.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3200400"/>
            <a:ext cx="4754880" cy="0"/>
          </a:xfrm>
          <a:prstGeom prst="line">
            <a:avLst/>
          </a:prstGeom>
          <a:noFill/>
          <a:ln w="19050">
            <a:solidFill>
              <a:srgbClr val="EDEB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6393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0.8132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68680" y="4297680"/>
            <a:ext cx="4754880" cy="0"/>
          </a:xfrm>
          <a:prstGeom prst="line">
            <a:avLst/>
          </a:prstGeom>
          <a:noFill/>
          <a:ln w="19050">
            <a:solidFill>
              <a:srgbClr val="EDEB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8056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did not outperform the simpler weighted voting approach, suggesting the meta-model added complexity without additional predictive signal.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1212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738360" y="1947672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/>
        </p:spPr>
      </p:sp>
      <p:sp>
        <p:nvSpPr>
          <p:cNvPr id="14" name="Text 12"/>
          <p:cNvSpPr/>
          <p:nvPr/>
        </p:nvSpPr>
        <p:spPr>
          <a:xfrm>
            <a:off x="9738360" y="19476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19476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Voting Ensemble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83680" y="240487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Tree, Extra Trees, CatBoost, and LightGBM combined through probability-weighted soft voting.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200400"/>
            <a:ext cx="4754880" cy="0"/>
          </a:xfrm>
          <a:prstGeom prst="line">
            <a:avLst/>
          </a:prstGeom>
          <a:noFill/>
          <a:ln w="19050">
            <a:solidFill>
              <a:srgbClr val="4B3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36393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0.8155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96112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61120" y="36393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0.80944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583680" y="4297680"/>
            <a:ext cx="4754880" cy="0"/>
          </a:xfrm>
          <a:prstGeom prst="line">
            <a:avLst/>
          </a:prstGeom>
          <a:noFill/>
          <a:ln w="19050">
            <a:solidFill>
              <a:srgbClr val="4B3F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48056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ensemble outperformed every individual model and the stacking approach, and became the final submitted model.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submitted model is a four-algorithm soft-voting ensemble that averages predicted probabilities rather than taking a simple majority vote.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B3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6771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3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baseline tree model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21031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B3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26771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3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Trees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bagging ensemble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1031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B3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26771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3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gradient boosting model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41080" y="21031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B3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226771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3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0" y="2743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complementary gradient boosting model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9300" y="3520440"/>
            <a:ext cx="0" cy="502920"/>
          </a:xfrm>
          <a:prstGeom prst="line">
            <a:avLst/>
          </a:prstGeom>
          <a:noFill/>
          <a:ln w="25400">
            <a:solidFill>
              <a:srgbClr val="4B3F7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80560" y="4160520"/>
            <a:ext cx="3200400" cy="777240"/>
          </a:xfrm>
          <a:prstGeom prst="roundRect">
            <a:avLst>
              <a:gd name="adj" fmla="val 49412"/>
            </a:avLst>
          </a:prstGeom>
          <a:solidFill>
            <a:srgbClr val="12122B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4160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(Probability Averaging)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80760" y="4937760"/>
            <a:ext cx="0" cy="457200"/>
          </a:xfrm>
          <a:prstGeom prst="line">
            <a:avLst/>
          </a:prstGeom>
          <a:noFill/>
          <a:ln w="25400">
            <a:solidFill>
              <a:srgbClr val="4B3F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937760" y="5440680"/>
            <a:ext cx="2286000" cy="594360"/>
          </a:xfrm>
          <a:prstGeom prst="roundRect">
            <a:avLst>
              <a:gd name="adj" fmla="val 49231"/>
            </a:avLst>
          </a:prstGeom>
          <a:solidFill>
            <a:srgbClr val="FFC857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5440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0" y="416052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combination worked: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bagging models (Decision Tree, Extra Trees) and two boosting models (CatBoost, LightGBM) make different types of errors, so averaging their probabilities is more robust than any single algorithm or a hard majority vote.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Ranking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11247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Notebook Version History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notebook versions were submitted over the course of the competition. Version 7 — the weighted voting ensemble with LightGBM — produced the best leaderboard score.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47231" y="1828800"/>
            <a:ext cx="9097233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EDEBF7"/>
            </a:solidFill>
            <a:prstDash val="solid"/>
          </a:ln>
        </p:spPr>
      </p:sp>
      <p:pic>
        <p:nvPicPr>
          <p:cNvPr id="6" name="Image 0" descr="/home/claude/spaceship_ppt/version_history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391" y="1965960"/>
            <a:ext cx="8822913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84391" y="5852160"/>
            <a:ext cx="882291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7:  </a:t>
            </a:r>
            <a:pPr algn="ctr"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0.80944 — the best-scoring submission and the final selected model.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Leaderboard Standing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submission placed at rank 117 on the public leaderboard, tied with several other competitors at a score of 0.80944.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08592" y="1828800"/>
            <a:ext cx="8574511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EDEBF7"/>
            </a:solidFill>
            <a:prstDash val="solid"/>
          </a:ln>
        </p:spPr>
      </p:sp>
      <p:pic>
        <p:nvPicPr>
          <p:cNvPr id="6" name="Image 0" descr="/home/claude/spaceship_ppt/leaderboard_standin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752" y="1965960"/>
            <a:ext cx="8300191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45752" y="5852160"/>
            <a:ext cx="830019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117:  </a:t>
            </a:r>
            <a:pPr algn="ctr"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Mireille Ingabire — public leaderboard score of 0.80944, five submissions.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 vs. Leaderboard Generalization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cross-validation accuracy against leaderboard accuracy reveals how well each model generalizes to unseen data.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1280160"/>
        </p:xfrm>
        <a:graphic>
          <a:graphicData uri="http://schemas.openxmlformats.org/drawingml/2006/table">
            <a:tbl>
              <a:tblPr/>
              <a:tblGrid>
                <a:gridCol w="4206240"/>
                <a:gridCol w="2468880"/>
                <a:gridCol w="237744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Cross-Validation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Leaderboard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Generalization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Voting + LightGBM (final model)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0.80944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B3F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 (single model)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9476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12122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43484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weighted voting ensemble shows a smaller generalization gap (+0.0061) than the single CatBoost model (+0.0090). A smaller gap between cross-validation and leaderboard accuracy indicates the ensemble generalizes more reliably to data it has not seen, which is why it was selected as the final submission.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55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name:  </a:t>
            </a:r>
            <a:pPr indent="0" marL="0">
              <a:lnSpc>
                <a:spcPct val="155000"/>
              </a:lnSpc>
              <a:buNone/>
            </a:pPr>
            <a:r>
              <a:rPr lang="en-US" sz="15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</a:t>
            </a:r>
            <a:endParaRPr lang="en-US" sz="15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55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 </a:t>
            </a:r>
            <a:pPr indent="0" marL="0">
              <a:lnSpc>
                <a:spcPct val="155000"/>
              </a:lnSpc>
              <a:buNone/>
            </a:pPr>
            <a:r>
              <a:rPr lang="en-US" sz="15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4,277 rows × 2 columns</a:t>
            </a:r>
            <a:endParaRPr lang="en-US" sz="15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55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 </a:t>
            </a:r>
            <a:pPr indent="0" marL="0">
              <a:lnSpc>
                <a:spcPct val="155000"/>
              </a:lnSpc>
              <a:buNone/>
            </a:pPr>
            <a:r>
              <a:rPr lang="en-US" sz="15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Identifier, Transported</a:t>
            </a:r>
            <a:endParaRPr lang="en-US" sz="15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55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 </a:t>
            </a:r>
            <a:pPr indent="0" marL="0">
              <a:lnSpc>
                <a:spcPct val="155000"/>
              </a:lnSpc>
              <a:buNone/>
            </a:pPr>
            <a:r>
              <a:rPr lang="en-US" sz="15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550" b="1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rows:  </a:t>
            </a:r>
            <a:pPr indent="0" marL="0">
              <a:lnSpc>
                <a:spcPct val="155000"/>
              </a:lnSpc>
              <a:buNone/>
            </a:pPr>
            <a:r>
              <a:rPr lang="en-US" sz="15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class split closely mirrors the near-even balance observed in the training data, indicating the model has not introduced systematic bias toward either outcome.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309360" y="1600200"/>
          <a:ext cx="5303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Key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83664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2% of each column was missing; resolved with mean and mode imputation inside the pipeline.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06624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text fields: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Cabin field packed three facts into one string, requiring careful unpacking.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29584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0156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group outcomes: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traveling together often share outcomes; captured via group-length and solo-traveler features.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352544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245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count balance: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excess weak features reduced cross-validation accuracy; only the strongest features were retained.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175504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04748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trees and more estimators did not always help; regularization was necessary.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B3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883664"/>
            <a:ext cx="91440" cy="91440"/>
          </a:xfrm>
          <a:prstGeom prst="ellipse">
            <a:avLst/>
          </a:prstGeom>
          <a:solidFill>
            <a:srgbClr val="4B3F72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755648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ensembles outperform single models: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accuracy 0.8155 exceeded the CatBoost single-model accuracy of 0.8133.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706624"/>
            <a:ext cx="91440" cy="91440"/>
          </a:xfrm>
          <a:prstGeom prst="ellipse">
            <a:avLst/>
          </a:prstGeom>
          <a:solidFill>
            <a:srgbClr val="4B3F72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578608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outperforms hard majority voting: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weighted voting ensemble outperformed all individual models.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529584"/>
            <a:ext cx="91440" cy="91440"/>
          </a:xfrm>
          <a:prstGeom prst="ellipse">
            <a:avLst/>
          </a:prstGeom>
          <a:solidFill>
            <a:srgbClr val="4B3F7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401568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did not beat weighted voting: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scored 0.8132 versus 0.8155 for weighted voting.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4352544"/>
            <a:ext cx="91440" cy="91440"/>
          </a:xfrm>
          <a:prstGeom prst="ellipse">
            <a:avLst/>
          </a:prstGeom>
          <a:solidFill>
            <a:srgbClr val="4B3F72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224528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mattered: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Twenty-four engineered features outperformed the raw feature set.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5175504"/>
            <a:ext cx="91440" cy="91440"/>
          </a:xfrm>
          <a:prstGeom prst="ellipse">
            <a:avLst/>
          </a:prstGeom>
          <a:solidFill>
            <a:srgbClr val="4B3F72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5047488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 generalized best: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cross-validation-to-leaderboard gap of +0.0061 was the smallest observed.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Spaceship Titanic — Machine Learning Competition Report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73736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822960"/>
            <a:ext cx="45720" cy="457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210312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54864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164592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0" y="2377440"/>
            <a:ext cx="45720" cy="457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0" y="448056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01168"/>
            <a:ext cx="45720" cy="457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603504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24160" y="5669280"/>
            <a:ext cx="54864" cy="548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95760" y="493776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108960"/>
            <a:ext cx="36576" cy="3657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0" y="2926080"/>
            <a:ext cx="45720" cy="457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822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Four-Model Ensemble That Exceeded Target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" y="169164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produced a four-model soft-voting ensemble achieving a leaderboard accuracy of 80.944%, exceeding the project target of 80.0% by 0.944 percentage points.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2816352"/>
            <a:ext cx="5897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fourteen raw columns into twenty-four informative features.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3685032"/>
            <a:ext cx="5897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Diversity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two bagging models with two boosting models reduced overall prediction error.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4553712"/>
            <a:ext cx="5897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Strategy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 outperformed stacking, and adding LightGBM improved the final result.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55280" y="1554480"/>
            <a:ext cx="3611880" cy="4343400"/>
          </a:xfrm>
          <a:prstGeom prst="roundRect">
            <a:avLst>
              <a:gd name="adj" fmla="val 3544"/>
            </a:avLst>
          </a:prstGeom>
          <a:solidFill>
            <a:srgbClr val="4B3F72">
              <a:alpha val="75000"/>
            </a:srgbClr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874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LEADERBOARD SCORE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23317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80.944%</a:t>
            </a:r>
            <a:endParaRPr lang="en-US" sz="4000" dirty="0"/>
          </a:p>
        </p:txBody>
      </p:sp>
      <p:sp>
        <p:nvSpPr>
          <p:cNvPr id="31" name="Shape 29"/>
          <p:cNvSpPr/>
          <p:nvPr/>
        </p:nvSpPr>
        <p:spPr>
          <a:xfrm>
            <a:off x="8412480" y="3383280"/>
            <a:ext cx="2697480" cy="0"/>
          </a:xfrm>
          <a:prstGeom prst="line">
            <a:avLst/>
          </a:prstGeom>
          <a:noFill/>
          <a:ln w="12700">
            <a:solidFill>
              <a:srgbClr val="FFC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361188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accuracy:  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0.8155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target:  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above target:  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+0.00944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Spaceship Titanic Competition — Ingabire Mireille  |  Kaggle Competitions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2026-09-13T18:56:46Z</dcterms:created>
  <dcterms:modified xsi:type="dcterms:W3CDTF">2026-09-13T18:56:46Z</dcterms:modified>
</cp:coreProperties>
</file>